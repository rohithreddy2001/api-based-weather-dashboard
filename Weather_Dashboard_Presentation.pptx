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PM10 vs PM2.5 — 7-Day Trend (µg/m³)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PM2.5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6.2</c:v>
                </c:pt>
                <c:pt idx="1">
                  <c:v>5.8</c:v>
                </c:pt>
                <c:pt idx="2">
                  <c:v>7.1</c:v>
                </c:pt>
                <c:pt idx="3">
                  <c:v>8.4</c:v>
                </c:pt>
                <c:pt idx="4">
                  <c:v>6.9</c:v>
                </c:pt>
                <c:pt idx="5">
                  <c:v>5.5</c:v>
                </c:pt>
                <c:pt idx="6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BC-4603-8343-A3E454AE8D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PM10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12.1</c:v>
                </c:pt>
                <c:pt idx="1">
                  <c:v>11.4</c:v>
                </c:pt>
                <c:pt idx="2">
                  <c:v>13.2</c:v>
                </c:pt>
                <c:pt idx="3">
                  <c:v>15</c:v>
                </c:pt>
                <c:pt idx="4">
                  <c:v>12.8</c:v>
                </c:pt>
                <c:pt idx="5">
                  <c:v>10.9</c:v>
                </c:pt>
                <c:pt idx="6">
                  <c:v>11.5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BC-4603-8343-A3E454AE8D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378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65A82">
              <a:alpha val="30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API-BASED WEATHER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kern="0" spc="2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365760" y="26700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Fetching, Transformation &amp; Visualisation using Python &amp; Power BI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3246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City: </a:t>
            </a:r>
            <a:r>
              <a:rPr lang="en-US" sz="130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Leipzig, Germany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35661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30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June 2026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38862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300" dirty="0">
                <a:solidFill>
                  <a:srgbClr val="C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WeatherAPI · Power BI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0" y="3154680"/>
            <a:ext cx="3108960" cy="1600200"/>
          </a:xfrm>
          <a:prstGeom prst="roundRect">
            <a:avLst>
              <a:gd name="adj" fmla="val 4571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5216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3547872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E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Sumanth </a:t>
            </a:r>
            <a:r>
              <a:rPr lang="en-US" sz="1150" dirty="0" err="1">
                <a:solidFill>
                  <a:srgbClr val="E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Pidishetti</a:t>
            </a:r>
            <a:r>
              <a:rPr lang="en-US" sz="1150" dirty="0">
                <a:solidFill>
                  <a:srgbClr val="E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(100008679)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E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Sumanth </a:t>
            </a:r>
            <a:r>
              <a:rPr lang="en-US" sz="1150" dirty="0" err="1">
                <a:solidFill>
                  <a:srgbClr val="E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Gadwala</a:t>
            </a:r>
            <a:r>
              <a:rPr lang="en-US" sz="1150" dirty="0">
                <a:solidFill>
                  <a:srgbClr val="E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(100008777)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E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Rohith Reddy </a:t>
            </a:r>
            <a:r>
              <a:rPr lang="en-US" sz="1150" dirty="0" err="1">
                <a:solidFill>
                  <a:srgbClr val="E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Rudraiah</a:t>
            </a:r>
            <a:r>
              <a:rPr lang="en-US" sz="1150" dirty="0">
                <a:solidFill>
                  <a:srgbClr val="E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Gari (100008638)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Danush Kumar Sekar(100008245)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 and achieve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2834640"/>
          </a:xfrm>
          <a:prstGeom prst="roundRect">
            <a:avLst>
              <a:gd name="adj" fmla="val 3871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live 7-day hourly weather &amp; air quality data for Leipzig via a public REST 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nested JSON into a structured 168-row dataset using Python &amp; Pandas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weather trends interactively in a Power BI dashboard with multiple views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Air Quality Index (PM2.5, PM10, EPA) alongside meteorological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0" y="1097280"/>
            <a:ext cx="3200400" cy="2834640"/>
          </a:xfrm>
          <a:prstGeom prst="roundRect">
            <a:avLst>
              <a:gd name="adj" fmla="val 3871"/>
            </a:avLst>
          </a:prstGeom>
          <a:solidFill>
            <a:srgbClr val="065A82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Met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66420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89320" y="16459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84832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89320" y="20665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505456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89320" y="24871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Structure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92608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89320" y="29077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Integration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346704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89320" y="33284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365760" y="4069080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365760" y="4114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</a:t>
            </a:r>
            <a:endParaRPr lang="en-US" sz="2200" dirty="0"/>
          </a:p>
        </p:txBody>
      </p:sp>
      <p:sp>
        <p:nvSpPr>
          <p:cNvPr id="21" name="Text 14"/>
          <p:cNvSpPr/>
          <p:nvPr/>
        </p:nvSpPr>
        <p:spPr>
          <a:xfrm>
            <a:off x="365760" y="44622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Rows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2560320" y="4069080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2560320" y="4114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2560320" y="44622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4754880" y="4069080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4754880" y="4114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4754880" y="44622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Forecast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6949440" y="4069080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6949440" y="4114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200" dirty="0"/>
          </a:p>
        </p:txBody>
      </p:sp>
      <p:sp>
        <p:nvSpPr>
          <p:cNvPr id="30" name="Text 23"/>
          <p:cNvSpPr/>
          <p:nvPr/>
        </p:nvSpPr>
        <p:spPr>
          <a:xfrm>
            <a:off x="6949440" y="44622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Data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365760" y="48920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Weather Analytics Dashboard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Tools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components powering the end-to-end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252728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353312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234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1508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0352" y="2039112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scripting language for the data pipeline — API calls, JSON parsing, and data transformation.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105156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65192" y="1252728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1353312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52160" y="1234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WeatherAPI.com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852160" y="1508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965192" y="2039112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REST API (free tier). Provides 7-day hourly forecast including Air Quality Index data.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65760" y="301752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0352" y="3218688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3319272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200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417320" y="34747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30352" y="4005072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creation, type conversion, and datetime parsing. Structures raw JSON into tabular data.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800600" y="301752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965192" y="3218688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3319272"/>
            <a:ext cx="566928" cy="5669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52160" y="3200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852160" y="34747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965192" y="4005072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and visualisation layer. Consumes df_master via native Python data source.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365760" y="48920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Weather Analytics Dashboard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Data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public API to interactive dashboard — the complete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1168" y="1417320"/>
            <a:ext cx="1389888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 w="635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490472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.com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" y="20391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27632" y="1856232"/>
            <a:ext cx="32004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1911096" y="1819656"/>
            <a:ext cx="36576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1984248" y="1417320"/>
            <a:ext cx="1389888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 w="635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84248" y="1490472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GET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84248" y="20391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requests lib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10712" y="1856232"/>
            <a:ext cx="32004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3694176" y="1819656"/>
            <a:ext cx="36576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3767328" y="1417320"/>
            <a:ext cx="1389888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 w="635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67328" y="1490472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67328" y="20391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 + .get()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93792" y="1856232"/>
            <a:ext cx="32004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5477256" y="1819656"/>
            <a:ext cx="36576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Shape 17"/>
          <p:cNvSpPr/>
          <p:nvPr/>
        </p:nvSpPr>
        <p:spPr>
          <a:xfrm>
            <a:off x="5550408" y="1417320"/>
            <a:ext cx="1389888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 w="635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50408" y="1490472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50408" y="20391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df_master 168×12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76872" y="1856232"/>
            <a:ext cx="32004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Shape 21"/>
          <p:cNvSpPr/>
          <p:nvPr/>
        </p:nvSpPr>
        <p:spPr>
          <a:xfrm>
            <a:off x="7260336" y="1819656"/>
            <a:ext cx="36576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Shape 22"/>
          <p:cNvSpPr/>
          <p:nvPr/>
        </p:nvSpPr>
        <p:spPr>
          <a:xfrm>
            <a:off x="7333488" y="1417320"/>
            <a:ext cx="1389888" cy="1005840"/>
          </a:xfrm>
          <a:prstGeom prst="roundRect">
            <a:avLst>
              <a:gd name="adj" fmla="val 9091"/>
            </a:avLst>
          </a:prstGeom>
          <a:solidFill>
            <a:srgbClr val="02C39A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33488" y="1490472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33488" y="20391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01168" y="2606040"/>
            <a:ext cx="1389888" cy="777240"/>
          </a:xfrm>
          <a:prstGeom prst="roundRect">
            <a:avLst>
              <a:gd name="adj" fmla="val 14118"/>
            </a:avLst>
          </a:prstGeom>
          <a:solidFill>
            <a:srgbClr val="0A2540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6032" y="26517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REST API endpoint — free tier, returns JSON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984248" y="2606040"/>
            <a:ext cx="1389888" cy="777240"/>
          </a:xfrm>
          <a:prstGeom prst="roundRect">
            <a:avLst>
              <a:gd name="adj" fmla="val 14118"/>
            </a:avLst>
          </a:prstGeom>
          <a:solidFill>
            <a:srgbClr val="0A2540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039112" y="26517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requests.get() with API key &amp; city params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67328" y="2606040"/>
            <a:ext cx="1389888" cy="777240"/>
          </a:xfrm>
          <a:prstGeom prst="roundRect">
            <a:avLst>
              <a:gd name="adj" fmla="val 14118"/>
            </a:avLst>
          </a:prstGeom>
          <a:solidFill>
            <a:srgbClr val="0A2540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822192" y="26517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loop over days &amp; hours with safe .get()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50408" y="2606040"/>
            <a:ext cx="1389888" cy="777240"/>
          </a:xfrm>
          <a:prstGeom prst="roundRect">
            <a:avLst>
              <a:gd name="adj" fmla="val 14118"/>
            </a:avLst>
          </a:prstGeom>
          <a:solidFill>
            <a:srgbClr val="0A2540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05272" y="26517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rows × 12 columns, datetime parsed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33488" y="2606040"/>
            <a:ext cx="1389888" cy="777240"/>
          </a:xfrm>
          <a:prstGeom prst="roundRect">
            <a:avLst>
              <a:gd name="adj" fmla="val 14118"/>
            </a:avLst>
          </a:prstGeom>
          <a:solidFill>
            <a:srgbClr val="0A2540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88352" y="26517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Python source, Power Query Applied Steps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56616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611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rows × 12 columns  |  7-day × 24-hour hourly data  |  Auto-refreshes on every script run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48920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Weather Analytics Dashboard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Integration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live weather data with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0F294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requests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"your_key_here"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= </a:t>
            </a: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"Leipzig"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"http://api.weatherapi.com/v1/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forecast.json?key=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{api_key}</a:t>
            </a: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&amp;q=</a:t>
            </a: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{city}</a:t>
            </a: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&amp;days=7&amp;aqi=yes"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requests.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(url)
data     = response.</a:t>
            </a: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852160" y="1051560"/>
            <a:ext cx="2971800" cy="868680"/>
          </a:xfrm>
          <a:prstGeom prst="roundRect">
            <a:avLst>
              <a:gd name="adj" fmla="val 12632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61888" y="11612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1225296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65392" y="11430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65392" y="141732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WeatherAPI v1 forecast — free tier, no credit card needed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52160" y="2039112"/>
            <a:ext cx="2971800" cy="868680"/>
          </a:xfrm>
          <a:prstGeom prst="roundRect">
            <a:avLst>
              <a:gd name="adj" fmla="val 12632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61888" y="2148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221284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65392" y="2130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65392" y="240487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days=7 → full week forecast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aqi=yes → Air Quality data included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852160" y="3026664"/>
            <a:ext cx="2971800" cy="868680"/>
          </a:xfrm>
          <a:prstGeom prst="roundRect">
            <a:avLst>
              <a:gd name="adj" fmla="val 12632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61888" y="313639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896" y="32004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65392" y="31181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565392" y="339242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nested JSON: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→ forecastday → hour[]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365760" y="48920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Weather Analytics Dashboard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Parsing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navigating the nested JSON response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0F294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5029200" cy="2237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hourly_data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[]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day </a:t>
            </a: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data[</a:t>
            </a: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'forecast'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'forecastday'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hour </a:t>
            </a: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day[</a:t>
            </a: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'hour'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aqi_data = hour.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'air_quality'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{})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hourly_data.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
</a:t>
            </a: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'Temperature':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hour.</a:t>
            </a: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('temp_c'),
</a:t>
            </a: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'PM2.5':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aqi_data.</a:t>
            </a: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('pm2_5'),
</a:t>
            </a:r>
            <a:r>
              <a:rPr lang="en-US" sz="10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852160" y="1051560"/>
            <a:ext cx="2971800" cy="868680"/>
          </a:xfrm>
          <a:prstGeom prst="roundRect">
            <a:avLst>
              <a:gd name="adj" fmla="val 12632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16752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Loop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16752" y="143560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× 24 hours = 168 records processed in a single pass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0" y="2039112"/>
            <a:ext cx="2971800" cy="868680"/>
          </a:xfrm>
          <a:prstGeom prst="roundRect">
            <a:avLst>
              <a:gd name="adj" fmla="val 12632"/>
            </a:avLst>
          </a:prstGeom>
          <a:solidFill>
            <a:srgbClr val="065A82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16752" y="2130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.get()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16752" y="24231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KeyError crashes — missing fields return None gracefully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3026664"/>
            <a:ext cx="2971800" cy="868680"/>
          </a:xfrm>
          <a:prstGeom prst="roundRect">
            <a:avLst>
              <a:gd name="adj" fmla="val 12632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16752" y="31181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AQI Default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16752" y="341071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hour.get("air_quality", {}) — empty dict fallback if AQI missing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D6EAF8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696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168 records × 12 fields each — weather + air quality — ready for Pandas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920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Weather Analytics Dashboard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Transformation with Pandas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raw JSON into a clean, typed DataFrame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212080" y="105156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0F2942"/>
          </a:solidFill>
          <a:ln w="10160">
            <a:solidFill>
              <a:srgbClr val="1C7293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21808" y="117043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df_master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pd.</a:t>
            </a: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(hourly_data)
</a:t>
            </a:r>
            <a:r>
              <a:rPr lang="en-US" sz="9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df_master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['DateTime'] = pd.</a:t>
            </a: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to_datetime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df_master['DateTime'])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4663440" cy="3657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Column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Type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Description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datetime64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axis for all charts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(°C)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Hourly air temperature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humidity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Precipitation (mm)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 amount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Feels Like (°C)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Apparent temperature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Speed (km/h)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speed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Cover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coverage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Chance of Rain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Precipitation probability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 particulate matter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Coarse particulate matter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EPA Index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air quality standard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European AQI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DEFRA index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212080" y="2148840"/>
            <a:ext cx="1691640" cy="82296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5212080" y="21762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212080" y="25786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086600" y="2148840"/>
            <a:ext cx="1691640" cy="82296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86600" y="21762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086600" y="25786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48920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Weather Analytics Dashboard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Code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focused sections — each with a single responsibility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94944"/>
          </a:xfrm>
          <a:prstGeom prst="roundRect">
            <a:avLst>
              <a:gd name="adj" fmla="val 10526"/>
            </a:avLst>
          </a:prstGeom>
          <a:solidFill>
            <a:srgbClr val="0D9488">
              <a:alpha val="70000"/>
            </a:srgbClr>
          </a:solidFill>
          <a:ln w="381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21615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24358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161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Config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14630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key, city name, endpoint URL with query parameters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1865376"/>
            <a:ext cx="8412480" cy="694944"/>
          </a:xfrm>
          <a:prstGeom prst="roundRect">
            <a:avLst>
              <a:gd name="adj" fmla="val 10526"/>
            </a:avLst>
          </a:prstGeom>
          <a:solidFill>
            <a:srgbClr val="1C7293">
              <a:alpha val="70000"/>
            </a:srgbClr>
          </a:solidFill>
          <a:ln w="381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" y="198424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01168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19293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Fetch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600200" y="223113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requests.get() call, status check, .json() decode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65760" y="2633472"/>
            <a:ext cx="8412480" cy="694944"/>
          </a:xfrm>
          <a:prstGeom prst="roundRect">
            <a:avLst>
              <a:gd name="adj" fmla="val 10526"/>
            </a:avLst>
          </a:prstGeom>
          <a:solidFill>
            <a:srgbClr val="065A82">
              <a:alpha val="70000"/>
            </a:srgbClr>
          </a:solidFill>
          <a:ln w="381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5488" y="275234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4"/>
          <p:cNvSpPr/>
          <p:nvPr/>
        </p:nvSpPr>
        <p:spPr>
          <a:xfrm>
            <a:off x="475488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277977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Parse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600200" y="299923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 over days &amp; hours, safe .get() extraction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65760" y="3401568"/>
            <a:ext cx="8412480" cy="694944"/>
          </a:xfrm>
          <a:prstGeom prst="roundRect">
            <a:avLst>
              <a:gd name="adj" fmla="val 10526"/>
            </a:avLst>
          </a:prstGeom>
          <a:solidFill>
            <a:srgbClr val="21295C">
              <a:alpha val="70000"/>
            </a:srgbClr>
          </a:solidFill>
          <a:ln w="381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" y="35204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19"/>
          <p:cNvSpPr/>
          <p:nvPr/>
        </p:nvSpPr>
        <p:spPr>
          <a:xfrm>
            <a:off x="475488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3547872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34655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600200" y="37673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 creation, pd.to_datetime() parsing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65760" y="4169664"/>
            <a:ext cx="8412480" cy="694944"/>
          </a:xfrm>
          <a:prstGeom prst="roundRect">
            <a:avLst>
              <a:gd name="adj" fmla="val 10526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5488" y="428853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4"/>
          <p:cNvSpPr/>
          <p:nvPr/>
        </p:nvSpPr>
        <p:spPr>
          <a:xfrm>
            <a:off x="475488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" y="4315968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00200" y="4233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600200" y="453542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df_master consumed directly by Power BI Python source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365760" y="48920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Weather Analytics Dashboard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as Power BI Data Source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pipeline directly into Power BI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937760" cy="658368"/>
          </a:xfrm>
          <a:prstGeom prst="roundRect">
            <a:avLst>
              <a:gd name="adj" fmla="val 16667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161288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161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10642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Power BI Desktop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38074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tab → Get Data → More...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4937760" cy="658368"/>
          </a:xfrm>
          <a:prstGeom prst="roundRect">
            <a:avLst>
              <a:gd name="adj" fmla="val 16667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1911096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911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8562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Python Script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213055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"Python script" in the data source list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51176"/>
            <a:ext cx="4937760" cy="658368"/>
          </a:xfrm>
          <a:prstGeom prst="roundRect">
            <a:avLst>
              <a:gd name="adj" fmla="val 16667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2660904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660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26060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 the Python Code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288036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runs and exposes df_master as a table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300984"/>
            <a:ext cx="4937760" cy="658368"/>
          </a:xfrm>
          <a:prstGeom prst="roundRect">
            <a:avLst>
              <a:gd name="adj" fmla="val 16667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" y="3410712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3410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33558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df_master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363016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loads the DataFrame directly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50792"/>
            <a:ext cx="4937760" cy="658368"/>
          </a:xfrm>
          <a:prstGeom prst="roundRect">
            <a:avLst>
              <a:gd name="adj" fmla="val 16667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4160520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4160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410565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Transformations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437997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Type, Inserted Date, Renamed Columns...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1051560"/>
            <a:ext cx="3337560" cy="1005840"/>
          </a:xfrm>
          <a:prstGeom prst="roundRect">
            <a:avLst>
              <a:gd name="adj" fmla="val 10909"/>
            </a:avLst>
          </a:prstGeom>
          <a:solidFill>
            <a:srgbClr val="0F2942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96128" y="11155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Formula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96128" y="13716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Source{[Name="df_master"]}[Value]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0" y="2194560"/>
            <a:ext cx="3337560" cy="2514600"/>
          </a:xfrm>
          <a:prstGeom prst="roundRect">
            <a:avLst>
              <a:gd name="adj" fmla="val 4364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23560" y="2286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Steps in Power Query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23560" y="26334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5806440" y="259689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23560" y="29352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5806440" y="28986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23560" y="323697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9" name="Text 37"/>
          <p:cNvSpPr/>
          <p:nvPr/>
        </p:nvSpPr>
        <p:spPr>
          <a:xfrm>
            <a:off x="5806440" y="32004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Type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23560" y="353872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1" name="Text 39"/>
          <p:cNvSpPr/>
          <p:nvPr/>
        </p:nvSpPr>
        <p:spPr>
          <a:xfrm>
            <a:off x="5806440" y="35021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Inserted Date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23560" y="38404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3" name="Text 41"/>
          <p:cNvSpPr/>
          <p:nvPr/>
        </p:nvSpPr>
        <p:spPr>
          <a:xfrm>
            <a:off x="5806440" y="38039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Inserted Merged Column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23560" y="414223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5" name="Text 43"/>
          <p:cNvSpPr/>
          <p:nvPr/>
        </p:nvSpPr>
        <p:spPr>
          <a:xfrm>
            <a:off x="5806440" y="41056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Type2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23560" y="44439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7" name="Text 45"/>
          <p:cNvSpPr/>
          <p:nvPr/>
        </p:nvSpPr>
        <p:spPr>
          <a:xfrm>
            <a:off x="5806440" y="44074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Columns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65760" y="48920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Weather Analytics Dashboard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Leipzig Environmental &amp; Weather Analytics — Power BI Layout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0A2540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Weather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12°C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8653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 11°C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Wind: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 km/h   </a:t>
            </a:r>
            <a:r>
              <a:rPr lang="en-US" sz="85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Humidity: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79.88%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14600" y="1188720"/>
            <a:ext cx="1188720" cy="420624"/>
          </a:xfrm>
          <a:prstGeom prst="roundRect">
            <a:avLst>
              <a:gd name="adj" fmla="val 17391"/>
            </a:avLst>
          </a:prstGeom>
          <a:solidFill>
            <a:srgbClr val="1B7A3F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1887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1097280"/>
            <a:ext cx="4800600" cy="1371600"/>
          </a:xfrm>
          <a:prstGeom prst="roundRect">
            <a:avLst>
              <a:gd name="adj" fmla="val 6667"/>
            </a:avLst>
          </a:prstGeom>
          <a:solidFill>
            <a:srgbClr val="0A2540"/>
          </a:solidFill>
          <a:ln w="10160">
            <a:solidFill>
              <a:srgbClr val="1C7293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60520" y="1170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Forecast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0" y="142646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15 Jun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85232" y="142646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12°C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55664" y="142646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79.88%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626096" y="142646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0" y="16733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16 Jun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5232" y="16733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14°C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55664" y="16733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79.29%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26096" y="16733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0" y="19202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17 Jun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85232" y="19202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18°C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55664" y="19202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77.75%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626096" y="19202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0" y="21671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18 Jun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85232" y="21671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22°C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55664" y="21671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68.79%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626096" y="21671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260604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0A2540"/>
          </a:solidFill>
          <a:ln w="10160">
            <a:solidFill>
              <a:srgbClr val="1C7293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0" name="Text 28"/>
          <p:cNvSpPr/>
          <p:nvPr/>
        </p:nvSpPr>
        <p:spPr>
          <a:xfrm>
            <a:off x="502920" y="267919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(°C) &amp; Feels Like — 24hr Line Chart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3097456"/>
            <a:ext cx="384048" cy="9144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018128"/>
            <a:ext cx="384048" cy="45720"/>
          </a:xfrm>
          <a:prstGeom prst="line">
            <a:avLst/>
          </a:prstGeom>
          <a:noFill/>
          <a:ln w="19050">
            <a:solidFill>
              <a:srgbClr val="61AF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6968" y="3188899"/>
            <a:ext cx="384048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6968" y="3063853"/>
            <a:ext cx="384048" cy="45720"/>
          </a:xfrm>
          <a:prstGeom prst="line">
            <a:avLst/>
          </a:prstGeom>
          <a:noFill/>
          <a:ln w="19050">
            <a:solidFill>
              <a:srgbClr val="61AF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71016" y="3194948"/>
            <a:ext cx="384048" cy="4572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71016" y="3109568"/>
            <a:ext cx="384048" cy="45720"/>
          </a:xfrm>
          <a:prstGeom prst="line">
            <a:avLst/>
          </a:prstGeom>
          <a:noFill/>
          <a:ln w="19050">
            <a:solidFill>
              <a:srgbClr val="61AF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55064" y="3246724"/>
            <a:ext cx="384048" cy="4572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55064" y="3149235"/>
            <a:ext cx="384048" cy="45720"/>
          </a:xfrm>
          <a:prstGeom prst="line">
            <a:avLst/>
          </a:prstGeom>
          <a:noFill/>
          <a:ln w="19050">
            <a:solidFill>
              <a:srgbClr val="61AF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39112" y="3292448"/>
            <a:ext cx="384048" cy="13716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39112" y="3201008"/>
            <a:ext cx="384048" cy="137160"/>
          </a:xfrm>
          <a:prstGeom prst="line">
            <a:avLst/>
          </a:prstGeom>
          <a:noFill/>
          <a:ln w="19050">
            <a:solidFill>
              <a:srgbClr val="61AF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23160" y="3429611"/>
            <a:ext cx="384048" cy="13716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23160" y="3344220"/>
            <a:ext cx="384048" cy="137160"/>
          </a:xfrm>
          <a:prstGeom prst="line">
            <a:avLst/>
          </a:prstGeom>
          <a:noFill/>
          <a:ln w="19050">
            <a:solidFill>
              <a:srgbClr val="61AF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07208" y="3572820"/>
            <a:ext cx="384048" cy="9144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807208" y="3481384"/>
            <a:ext cx="384048" cy="91440"/>
          </a:xfrm>
          <a:prstGeom prst="line">
            <a:avLst/>
          </a:prstGeom>
          <a:noFill/>
          <a:ln w="19050">
            <a:solidFill>
              <a:srgbClr val="61AF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91256" y="3664260"/>
            <a:ext cx="384048" cy="9144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91256" y="3578876"/>
            <a:ext cx="384048" cy="91440"/>
          </a:xfrm>
          <a:prstGeom prst="line">
            <a:avLst/>
          </a:prstGeom>
          <a:noFill/>
          <a:ln w="19050">
            <a:solidFill>
              <a:srgbClr val="61AF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75304" y="3761756"/>
            <a:ext cx="384048" cy="4572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75304" y="3670323"/>
            <a:ext cx="384048" cy="91440"/>
          </a:xfrm>
          <a:prstGeom prst="line">
            <a:avLst/>
          </a:prstGeom>
          <a:noFill/>
          <a:ln w="19050">
            <a:solidFill>
              <a:srgbClr val="61AF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59352" y="3801430"/>
            <a:ext cx="384048" cy="4572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59352" y="3749648"/>
            <a:ext cx="384048" cy="45720"/>
          </a:xfrm>
          <a:prstGeom prst="line">
            <a:avLst/>
          </a:prstGeom>
          <a:noFill/>
          <a:ln w="19050">
            <a:solidFill>
              <a:srgbClr val="61AFE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43400" y="3847147"/>
            <a:ext cx="384048" cy="4572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43400" y="3795363"/>
            <a:ext cx="384048" cy="45720"/>
          </a:xfrm>
          <a:prstGeom prst="line">
            <a:avLst/>
          </a:prstGeom>
          <a:noFill/>
          <a:ln w="19050">
            <a:solidFill>
              <a:srgbClr val="61AFE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3" name="Shape 51"/>
          <p:cNvSpPr/>
          <p:nvPr/>
        </p:nvSpPr>
        <p:spPr>
          <a:xfrm>
            <a:off x="365760" y="4160520"/>
            <a:ext cx="8458200" cy="749808"/>
          </a:xfrm>
          <a:prstGeom prst="roundRect">
            <a:avLst>
              <a:gd name="adj" fmla="val 12195"/>
            </a:avLst>
          </a:prstGeom>
          <a:solidFill>
            <a:srgbClr val="0A2540"/>
          </a:solidFill>
          <a:ln w="10160">
            <a:solidFill>
              <a:srgbClr val="1C7293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02920" y="4224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Weather Strip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44439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57200" y="46177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10°C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371600" y="44439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03:00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371600" y="46177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9°C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286000" y="44439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286000" y="46177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9°C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200400" y="44439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200400" y="46177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10°C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114800" y="44439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114800" y="46177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13°C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029200" y="44439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029200" y="46177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16°C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943600" y="44439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943600" y="46177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16°C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858000" y="44439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21:00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858000" y="46177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14°C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772400" y="44439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23:00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7772400" y="46177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10°C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623560" y="260604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0A2540"/>
          </a:solidFill>
          <a:ln w="10160">
            <a:solidFill>
              <a:srgbClr val="1C7293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742432" y="2724912"/>
            <a:ext cx="2944368" cy="329184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75" name="Text 73"/>
          <p:cNvSpPr/>
          <p:nvPr/>
        </p:nvSpPr>
        <p:spPr>
          <a:xfrm>
            <a:off x="5742432" y="272491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Forecast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742432" y="3145536"/>
            <a:ext cx="2944368" cy="329184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77" name="Text 75"/>
          <p:cNvSpPr/>
          <p:nvPr/>
        </p:nvSpPr>
        <p:spPr>
          <a:xfrm>
            <a:off x="5742432" y="3145536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vs PM2.5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742432" y="3566160"/>
            <a:ext cx="2944368" cy="329184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79" name="Text 77"/>
          <p:cNvSpPr/>
          <p:nvPr/>
        </p:nvSpPr>
        <p:spPr>
          <a:xfrm>
            <a:off x="5742432" y="3566160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Cloud Cover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365760" y="48920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Weather Analytics Dashboard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Visualisations Explained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panels — three layers of insight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24912" cy="3429000"/>
          </a:xfrm>
          <a:prstGeom prst="roundRect">
            <a:avLst>
              <a:gd name="adj" fmla="val 4027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2728" y="1170432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12801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20299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Dual-Line Chart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4048" y="23591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vs Feels Like (24hr)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84048" y="2651760"/>
            <a:ext cx="2514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divergence between actual temperature and apparent temperature across 24 hours. Peak around 15:00 at 16°C. Helps users understand thermal comfort throughout the day.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72968" y="1051560"/>
            <a:ext cx="2724912" cy="3429000"/>
          </a:xfrm>
          <a:prstGeom prst="roundRect">
            <a:avLst>
              <a:gd name="adj" fmla="val 4027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51376" y="1170432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104" y="128016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82696" y="20299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7-Day Forecast Table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282696" y="23591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15–21 Daily Aggregates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282696" y="2651760"/>
            <a:ext cx="2514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Temperature, Humidity, Rain Chance &amp; Wind Speed per day. Rain chance drops from 20% on Monday to just 4% by Saturday — clear weekend outlook for Leipzig.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71616" y="1051560"/>
            <a:ext cx="2724912" cy="3429000"/>
          </a:xfrm>
          <a:prstGeom prst="roundRect">
            <a:avLst>
              <a:gd name="adj" fmla="val 4027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50024" y="1170432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128016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81344" y="20299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Hourly Weather Strip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181344" y="23591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icons + Temp + Humidity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181344" y="2651760"/>
            <a:ext cx="2514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visual strip with weather condition icons. Rainy afternoon clearly visible. Immediately communicates the day's weather pattern at a glance.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65760" y="48920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Weather Analytics Dashboard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Quality Module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meteorology — environmental analytics via aqi=yes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PM2.5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particulate matter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 2.5 micrometres)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97480" y="109728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97480" y="10972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0972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PM10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88920" y="15544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particulate matter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 10 micrometres)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97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974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EPA Index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standard air quality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(1–6 rating)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97480" y="269748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97480" y="2697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2697480" y="26974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European AQI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88920" y="31546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DEFRA index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(gb-defra-index)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83480" y="1097280"/>
            <a:ext cx="3794760" cy="1234440"/>
          </a:xfrm>
          <a:prstGeom prst="roundRect">
            <a:avLst>
              <a:gd name="adj" fmla="val 8889"/>
            </a:avLst>
          </a:prstGeom>
          <a:solidFill>
            <a:srgbClr val="E8F8EF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02352" y="1234440"/>
            <a:ext cx="1280160" cy="475488"/>
          </a:xfrm>
          <a:prstGeom prst="roundRect">
            <a:avLst>
              <a:gd name="adj" fmla="val 15385"/>
            </a:avLst>
          </a:prstGeom>
          <a:solidFill>
            <a:srgbClr val="1B7A3F"/>
          </a:solidFill>
          <a:ln/>
        </p:spPr>
      </p:sp>
      <p:sp>
        <p:nvSpPr>
          <p:cNvPr id="22" name="Text 20"/>
          <p:cNvSpPr/>
          <p:nvPr/>
        </p:nvSpPr>
        <p:spPr>
          <a:xfrm>
            <a:off x="5102352" y="12344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12801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Leipzig Air Quality — 15 June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15361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pollution levels across all metrics.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outdoor activities.</a:t>
            </a:r>
            <a:endParaRPr lang="en-US" sz="9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4983480" y="2450592"/>
          <a:ext cx="37947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365760" y="4370832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0F2942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 via: </a:t>
            </a: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aqi=yes</a:t>
            </a:r>
            <a:r>
              <a:rPr lang="en-US" sz="1050" dirty="0">
                <a:solidFill>
                  <a:srgbClr val="AA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the API URL parameter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65760" y="48920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Weather Analytics Dashboard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encountered and how we solved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Challenge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160520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773168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Solution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6420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59105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JSON (3 levels deep)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463040"/>
            <a:ext cx="4160520" cy="731520"/>
          </a:xfrm>
          <a:prstGeom prst="roundRect">
            <a:avLst>
              <a:gd name="adj" fmla="val 15000"/>
            </a:avLst>
          </a:prstGeom>
          <a:solidFill>
            <a:srgbClr val="E8F8F4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66420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93792" y="1572768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loop over forecastday → hour with safe .get() at each level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2304288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EEF6FB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50545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243230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AQI fields crashing the script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63440" y="2304288"/>
            <a:ext cx="4160520" cy="731520"/>
          </a:xfrm>
          <a:prstGeom prst="roundRect">
            <a:avLst>
              <a:gd name="adj" fmla="val 15000"/>
            </a:avLst>
          </a:prstGeom>
          <a:solidFill>
            <a:srgbClr val="F0FBF7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50545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93792" y="241401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hour.get("air_quality", {}) — empty dict fallback prevents any KeyError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65760" y="3145536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0F7FA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346704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14400" y="327355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format inconsistency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663440" y="3145536"/>
            <a:ext cx="4160520" cy="731520"/>
          </a:xfrm>
          <a:prstGeom prst="roundRect">
            <a:avLst>
              <a:gd name="adj" fmla="val 15000"/>
            </a:avLst>
          </a:prstGeom>
          <a:solidFill>
            <a:srgbClr val="E8F8F4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346704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93792" y="325526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pd.to_datetime() standardises all timestamps for Power BI time axis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365760" y="3986784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EEF6FB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4187952"/>
            <a:ext cx="329184" cy="32918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14400" y="41148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Python output into Power BI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4663440" y="3986784"/>
            <a:ext cx="4160520" cy="731520"/>
          </a:xfrm>
          <a:prstGeom prst="roundRect">
            <a:avLst>
              <a:gd name="adj" fmla="val 15000"/>
            </a:avLst>
          </a:prstGeom>
          <a:solidFill>
            <a:srgbClr val="F0FBF7"/>
          </a:solidFill>
          <a:ln w="1016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187952"/>
            <a:ext cx="310896" cy="31089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193792" y="4096512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Python Data Source (Get Data → Python Script) — no file export needed</a:t>
            </a:r>
            <a:endParaRPr lang="en-US" sz="1050" dirty="0"/>
          </a:p>
        </p:txBody>
      </p:sp>
      <p:sp>
        <p:nvSpPr>
          <p:cNvPr id="32" name="Text 22"/>
          <p:cNvSpPr/>
          <p:nvPr/>
        </p:nvSpPr>
        <p:spPr>
          <a:xfrm>
            <a:off x="365760" y="48920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Weather Analytics Dashboard</a:t>
            </a:r>
            <a:endParaRPr lang="en-US" sz="800" dirty="0"/>
          </a:p>
        </p:txBody>
      </p:sp>
      <p:sp>
        <p:nvSpPr>
          <p:cNvPr id="33" name="Text 23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Outcomes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 — all objectives met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7043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90472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7-Day Forecast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90472" y="151790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hourly weather data for Leipzig — refreshes on every script run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17043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1A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25312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Dataset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25312" y="151790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columns covering temperature, humidity, wind, precipitation &amp; full AQI metrics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33172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40487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11480" y="2926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90472" y="24231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90472" y="275234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with 3 toggle views: 7-Day Forecast, PM10 vs PM2.5, and Avg. Cloud Cover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240487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1A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846320" y="2926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25312" y="24231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Requirements Met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25312" y="275234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 ✓  Data transformation ✓  Modular structure ✓  Live API integration ✓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56616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363931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AQI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11480" y="41605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490472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Quality Integration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90472" y="398678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PM2.5, PM10, US EPA &amp; European AQI — environmental analytics beyond basic weather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63931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1A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846320" y="41605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25312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Python Code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25312" y="398678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clearly separated sections — easy to extend, debug, or adapt for other cities &amp; APIs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48920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Weather Analytics Dashboard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complete, modular data pipeline — from a live public REST API through Python data transformation to an interactive Power BI dashboard. All assignment criteria fulfilled: HTTP requests, data transformation, modular code structure, and live API integration with environmental analytics.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029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8412480" cy="438912"/>
          </a:xfrm>
          <a:prstGeom prst="roundRect">
            <a:avLst>
              <a:gd name="adj" fmla="val 12500"/>
            </a:avLst>
          </a:prstGeom>
          <a:solidFill>
            <a:srgbClr val="0A2540">
              <a:alpha val="80000"/>
            </a:srgbClr>
          </a:solidFill>
          <a:ln w="6350">
            <a:solidFill>
              <a:srgbClr val="1C729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0545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4597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Multi-city Support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1248" y="26609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city selector in dashboard — compare weather across locations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2935224"/>
            <a:ext cx="8412480" cy="438912"/>
          </a:xfrm>
          <a:prstGeom prst="roundRect">
            <a:avLst>
              <a:gd name="adj" fmla="val 12500"/>
            </a:avLst>
          </a:prstGeom>
          <a:solidFill>
            <a:srgbClr val="0A2540">
              <a:alpha val="80000"/>
            </a:srgbClr>
          </a:solidFill>
          <a:ln w="6350">
            <a:solidFill>
              <a:srgbClr val="02C39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0175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1248" y="29718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Comparison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41248" y="317296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daily data in CSV/DB to enable trend analysis over weeks/months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65760" y="3447288"/>
            <a:ext cx="8412480" cy="438912"/>
          </a:xfrm>
          <a:prstGeom prst="roundRect">
            <a:avLst>
              <a:gd name="adj" fmla="val 12500"/>
            </a:avLst>
          </a:prstGeom>
          <a:solidFill>
            <a:srgbClr val="0A2540">
              <a:alpha val="80000"/>
            </a:srgbClr>
          </a:solidFill>
          <a:ln w="6350">
            <a:solidFill>
              <a:srgbClr val="1C729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52958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" y="34838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Reports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41248" y="368503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Python script + daily email with weather summary report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65760" y="3959352"/>
            <a:ext cx="8412480" cy="438912"/>
          </a:xfrm>
          <a:prstGeom prst="roundRect">
            <a:avLst>
              <a:gd name="adj" fmla="val 12500"/>
            </a:avLst>
          </a:prstGeom>
          <a:solidFill>
            <a:srgbClr val="0A2540">
              <a:alpha val="80000"/>
            </a:srgbClr>
          </a:solidFill>
          <a:ln w="6350">
            <a:solidFill>
              <a:srgbClr val="02C39A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04164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1248" y="39959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Dashboard Variant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841248" y="419709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weather API for Stock/Forex API — same modular pipeline structure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365760" y="4471416"/>
            <a:ext cx="8412480" cy="438912"/>
          </a:xfrm>
          <a:prstGeom prst="roundRect">
            <a:avLst>
              <a:gd name="adj" fmla="val 12500"/>
            </a:avLst>
          </a:prstGeom>
          <a:solidFill>
            <a:srgbClr val="0A2540">
              <a:alpha val="80000"/>
            </a:srgbClr>
          </a:solidFill>
          <a:ln w="6350">
            <a:solidFill>
              <a:srgbClr val="1C7293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4553712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41248" y="45079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 Deployment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841248" y="47091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frontend in Streamlit or Flask for browser-based public access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365760" y="48920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Weather Analytics Dashboard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1736</Words>
  <Application>Microsoft Office PowerPoint</Application>
  <PresentationFormat>On-screen Show (16:9)</PresentationFormat>
  <Paragraphs>380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API-Based Weather Analytics Dashboard</dc:title>
  <dc:subject>PptxGenJS Presentation</dc:subject>
  <dc:creator>Team</dc:creator>
  <cp:lastModifiedBy>Danush Kumar</cp:lastModifiedBy>
  <cp:revision>3</cp:revision>
  <dcterms:created xsi:type="dcterms:W3CDTF">2026-06-15T19:05:04Z</dcterms:created>
  <dcterms:modified xsi:type="dcterms:W3CDTF">2026-06-15T20:04:38Z</dcterms:modified>
</cp:coreProperties>
</file>